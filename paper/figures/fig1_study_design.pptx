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5989320"/>
  <p:notesSz cx="598932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30000" cy="548640"/>
          </a:xfrm>
          <a:prstGeom prst="roundRect">
            <a:avLst>
              <a:gd name="adj" fmla="val 10000"/>
            </a:avLst>
          </a:prstGeom>
          <a:solidFill>
            <a:srgbClr val="3E4A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Case Selection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CEEA"/>
                </a:solidFill>
              </a:rPr>
              <a:t>200 cases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542032" y="320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D4"/>
                </a:solidFill>
              </a:rPr>
              <a:t>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32004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Note Splitting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CEEA"/>
                </a:solidFill>
              </a:rPr>
              <a:t>Presentation vs. A&amp;P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8032" y="320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D4"/>
                </a:solidFill>
              </a:rPr>
              <a:t>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32004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AI Plan Generation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CEEA"/>
                </a:solidFill>
              </a:rPr>
              <a:t>20 systems x 3 prompts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4032" y="320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D4"/>
                </a:solidFill>
              </a:rPr>
              <a:t>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32004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Order Extraction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CEEA"/>
                </a:solidFill>
              </a:rPr>
              <a:t>Median of 3 extractions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00032" y="3200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D4"/>
                </a:solidFill>
              </a:rPr>
              <a:t>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0" y="32004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Medicare Pricing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CEEA"/>
                </a:solidFill>
              </a:rPr>
              <a:t>CPT to fee schedule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188720"/>
            <a:ext cx="11430000" cy="1170432"/>
          </a:xfrm>
          <a:prstGeom prst="roundRect">
            <a:avLst>
              <a:gd name="adj" fmla="val 3125"/>
            </a:avLst>
          </a:prstGeom>
          <a:solidFill>
            <a:srgbClr val="F4F4F8"/>
          </a:solidFill>
          <a:ln w="12700">
            <a:solidFill>
              <a:srgbClr val="AAAA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005840"/>
            <a:ext cx="3291840" cy="310896"/>
          </a:xfrm>
          <a:prstGeom prst="roundRect">
            <a:avLst>
              <a:gd name="adj" fmla="val 11765"/>
            </a:avLst>
          </a:prstGeom>
          <a:solidFill>
            <a:srgbClr val="AAAAB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005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 PRESENTATION   MTS_0481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463040"/>
            <a:ext cx="3398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1E30"/>
                </a:solidFill>
              </a:rPr>
              <a:t>REASON FOR VISIT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60"/>
                </a:solidFill>
              </a:rPr>
              <a:t>Emergency department visit for a 2-month-old infant with nine days of cough and increased work of breathing.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67200" y="1463040"/>
            <a:ext cx="3398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1E30"/>
                </a:solidFill>
              </a:rPr>
              <a:t>HISTORY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60"/>
                </a:solidFill>
              </a:rPr>
              <a:t>Cough began nine days ago and worsened gradually, with reduced oral intake over the past three days. No fever. The picture is a classic clinical bronchiolitis.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57472" y="1444752"/>
            <a:ext cx="0" cy="768096"/>
          </a:xfrm>
          <a:prstGeom prst="line">
            <a:avLst/>
          </a:prstGeom>
          <a:noFill/>
          <a:ln w="9525">
            <a:solidFill>
              <a:srgbClr val="C8C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1463040"/>
            <a:ext cx="3398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1E30"/>
                </a:solidFill>
              </a:rPr>
              <a:t>EXAM &amp; ASSESSMENT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60"/>
                </a:solidFill>
              </a:rPr>
              <a:t>Comfortable on nasal suctioning and supplemental oxygen as needed. Bronchiolitis is a clinical diagnosis; per AAP and Choosing Wisely, routine viral testing, chest radiographs, and laboratory studies are not indicated and do not change management.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84592" y="1444752"/>
            <a:ext cx="0" cy="768096"/>
          </a:xfrm>
          <a:prstGeom prst="line">
            <a:avLst/>
          </a:prstGeom>
          <a:noFill/>
          <a:ln w="9525">
            <a:solidFill>
              <a:srgbClr val="C8C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359152"/>
            <a:ext cx="0" cy="118872"/>
          </a:xfrm>
          <a:prstGeom prst="line">
            <a:avLst/>
          </a:prstGeom>
          <a:noFill/>
          <a:ln w="19050">
            <a:solidFill>
              <a:srgbClr val="244B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2788" y="2478024"/>
            <a:ext cx="8695944" cy="0"/>
          </a:xfrm>
          <a:prstGeom prst="line">
            <a:avLst/>
          </a:prstGeom>
          <a:noFill/>
          <a:ln w="19050">
            <a:solidFill>
              <a:srgbClr val="244B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2788" y="2478024"/>
            <a:ext cx="0" cy="173736"/>
          </a:xfrm>
          <a:prstGeom prst="line">
            <a:avLst/>
          </a:prstGeom>
          <a:noFill/>
          <a:ln w="19050">
            <a:solidFill>
              <a:srgbClr val="244B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31436" y="2478024"/>
            <a:ext cx="0" cy="173736"/>
          </a:xfrm>
          <a:prstGeom prst="line">
            <a:avLst/>
          </a:prstGeom>
          <a:noFill/>
          <a:ln w="19050">
            <a:solidFill>
              <a:srgbClr val="244B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30084" y="2478024"/>
            <a:ext cx="0" cy="173736"/>
          </a:xfrm>
          <a:prstGeom prst="line">
            <a:avLst/>
          </a:prstGeom>
          <a:noFill/>
          <a:ln w="19050">
            <a:solidFill>
              <a:srgbClr val="244B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28732" y="2478024"/>
            <a:ext cx="0" cy="173736"/>
          </a:xfrm>
          <a:prstGeom prst="line">
            <a:avLst/>
          </a:prstGeom>
          <a:noFill/>
          <a:ln w="19050">
            <a:solidFill>
              <a:srgbClr val="244B8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" y="2743200"/>
            <a:ext cx="2734056" cy="2880360"/>
          </a:xfrm>
          <a:prstGeom prst="roundRect">
            <a:avLst>
              <a:gd name="adj" fmla="val 1003"/>
            </a:avLst>
          </a:prstGeom>
          <a:solidFill>
            <a:srgbClr val="FFFDF4"/>
          </a:solidFill>
          <a:ln w="12700">
            <a:solidFill>
              <a:srgbClr val="C8A4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2651760"/>
            <a:ext cx="2624328" cy="329184"/>
          </a:xfrm>
          <a:prstGeom prst="roundRect">
            <a:avLst>
              <a:gd name="adj" fmla="val 8333"/>
            </a:avLst>
          </a:prstGeom>
          <a:solidFill>
            <a:srgbClr val="C8A428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265176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PHYSICIAN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01752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B18"/>
                </a:solidFill>
              </a:rPr>
              <a:t>treating clinician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5B18"/>
                </a:solidFill>
              </a:rPr>
              <a:t>Acute bronchiolitis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" y="3767328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Diagnostic orders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" y="3986784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Supportive care</a:t>
            </a:r>
            <a:endParaRPr lang="en-US" sz="1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B5B18"/>
                </a:solidFill>
              </a:rPr>
              <a:t>No diagnostic tests ordered.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87830"/>
                </a:solidFill>
              </a:rPr>
              <a:t>Appropriate care: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87830"/>
                </a:solidFill>
              </a:rPr>
              <a:t>no testing indicated.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" y="4965192"/>
            <a:ext cx="2441448" cy="109728"/>
          </a:xfrm>
          <a:prstGeom prst="roundRect">
            <a:avLst>
              <a:gd name="adj" fmla="val 16667"/>
            </a:avLst>
          </a:prstGeom>
          <a:solidFill>
            <a:srgbClr val="E6E6EE"/>
          </a:solidFill>
          <a:ln/>
        </p:spPr>
      </p:sp>
      <p:sp>
        <p:nvSpPr>
          <p:cNvPr id="34" name="Shape 32"/>
          <p:cNvSpPr/>
          <p:nvPr/>
        </p:nvSpPr>
        <p:spPr>
          <a:xfrm>
            <a:off x="512064" y="4965192"/>
            <a:ext cx="36576" cy="109728"/>
          </a:xfrm>
          <a:prstGeom prst="roundRect">
            <a:avLst>
              <a:gd name="adj" fmla="val 50000"/>
            </a:avLst>
          </a:prstGeom>
          <a:solidFill>
            <a:srgbClr val="C8A428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5093208"/>
            <a:ext cx="2734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7830"/>
                </a:solidFill>
              </a:rPr>
              <a:t>$0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365760" y="545896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94"/>
                </a:solidFill>
              </a:rPr>
              <a:t>diagnostic test cost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64408" y="2743200"/>
            <a:ext cx="2734056" cy="2880360"/>
          </a:xfrm>
          <a:prstGeom prst="roundRect">
            <a:avLst>
              <a:gd name="adj" fmla="val 1003"/>
            </a:avLst>
          </a:prstGeom>
          <a:solidFill>
            <a:srgbClr val="EAF1FA"/>
          </a:solidFill>
          <a:ln w="12700">
            <a:solidFill>
              <a:srgbClr val="244B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9272" y="2651760"/>
            <a:ext cx="2624328" cy="329184"/>
          </a:xfrm>
          <a:prstGeom prst="roundRect">
            <a:avLst>
              <a:gd name="adj" fmla="val 8333"/>
            </a:avLst>
          </a:prstGeom>
          <a:solidFill>
            <a:srgbClr val="244B82"/>
          </a:solidFill>
          <a:ln/>
        </p:spPr>
      </p:sp>
      <p:sp>
        <p:nvSpPr>
          <p:cNvPr id="39" name="Text 37"/>
          <p:cNvSpPr/>
          <p:nvPr/>
        </p:nvSpPr>
        <p:spPr>
          <a:xfrm>
            <a:off x="3319272" y="265176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AI: STANDARD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64408" y="301752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4478"/>
                </a:solidFill>
              </a:rPr>
              <a:t>default prompt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92424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4478"/>
                </a:solidFill>
              </a:rPr>
              <a:t>Acute bronchiolitis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92424" y="3767328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Diagnostic orders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92424" y="398678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Supportive care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Viral respiratory panel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Echocardiogram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21808" y="398678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shared</a:t>
            </a:r>
            <a:endParaRPr lang="en-US" sz="10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$257</a:t>
            </a:r>
            <a:endParaRPr lang="en-US" sz="10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$197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10712" y="4965192"/>
            <a:ext cx="2441448" cy="109728"/>
          </a:xfrm>
          <a:prstGeom prst="roundRect">
            <a:avLst>
              <a:gd name="adj" fmla="val 16667"/>
            </a:avLst>
          </a:prstGeom>
          <a:solidFill>
            <a:srgbClr val="E6E6EE"/>
          </a:solidFill>
          <a:ln/>
        </p:spPr>
      </p:sp>
      <p:sp>
        <p:nvSpPr>
          <p:cNvPr id="46" name="Shape 44"/>
          <p:cNvSpPr/>
          <p:nvPr/>
        </p:nvSpPr>
        <p:spPr>
          <a:xfrm>
            <a:off x="3410712" y="4965192"/>
            <a:ext cx="2441448" cy="109728"/>
          </a:xfrm>
          <a:prstGeom prst="roundRect">
            <a:avLst>
              <a:gd name="adj" fmla="val 16667"/>
            </a:avLst>
          </a:prstGeom>
          <a:solidFill>
            <a:srgbClr val="244B82"/>
          </a:solidFill>
          <a:ln/>
        </p:spPr>
      </p:sp>
      <p:sp>
        <p:nvSpPr>
          <p:cNvPr id="47" name="Text 45"/>
          <p:cNvSpPr/>
          <p:nvPr/>
        </p:nvSpPr>
        <p:spPr>
          <a:xfrm>
            <a:off x="3264408" y="5093208"/>
            <a:ext cx="2734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B82"/>
                </a:solidFill>
              </a:rPr>
              <a:t>$454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3264408" y="545896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94"/>
                </a:solidFill>
              </a:rPr>
              <a:t>diagnostic test cost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63056" y="2743200"/>
            <a:ext cx="2734056" cy="2880360"/>
          </a:xfrm>
          <a:prstGeom prst="roundRect">
            <a:avLst>
              <a:gd name="adj" fmla="val 1003"/>
            </a:avLst>
          </a:prstGeom>
          <a:solidFill>
            <a:srgbClr val="EEF4FB"/>
          </a:solidFill>
          <a:ln w="12700">
            <a:solidFill>
              <a:srgbClr val="3F73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651760"/>
            <a:ext cx="2624328" cy="329184"/>
          </a:xfrm>
          <a:prstGeom prst="roundRect">
            <a:avLst>
              <a:gd name="adj" fmla="val 8333"/>
            </a:avLst>
          </a:prstGeom>
          <a:solidFill>
            <a:srgbClr val="3F73AE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0" y="265176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AI: COST-AWARE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163056" y="301752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4478"/>
                </a:solidFill>
              </a:rPr>
              <a:t>cost-aware prompt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4478"/>
                </a:solidFill>
              </a:rPr>
              <a:t>Acute bronchiolitis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91072" y="3767328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Diagnostic orders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91072" y="398678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Supportive care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Viral respiratory panel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Pertussis PCR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0456" y="398678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shared</a:t>
            </a:r>
            <a:endParaRPr lang="en-US" sz="10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$257</a:t>
            </a:r>
            <a:endParaRPr lang="en-US" sz="10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$35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4965192"/>
            <a:ext cx="2441448" cy="109728"/>
          </a:xfrm>
          <a:prstGeom prst="roundRect">
            <a:avLst>
              <a:gd name="adj" fmla="val 16667"/>
            </a:avLst>
          </a:prstGeom>
          <a:solidFill>
            <a:srgbClr val="E6E6EE"/>
          </a:solidFill>
          <a:ln/>
        </p:spPr>
      </p:sp>
      <p:sp>
        <p:nvSpPr>
          <p:cNvPr id="58" name="Shape 56"/>
          <p:cNvSpPr/>
          <p:nvPr/>
        </p:nvSpPr>
        <p:spPr>
          <a:xfrm>
            <a:off x="6309360" y="4965192"/>
            <a:ext cx="1571689" cy="109728"/>
          </a:xfrm>
          <a:prstGeom prst="roundRect">
            <a:avLst>
              <a:gd name="adj" fmla="val 16667"/>
            </a:avLst>
          </a:prstGeom>
          <a:solidFill>
            <a:srgbClr val="3F73AE"/>
          </a:solidFill>
          <a:ln/>
        </p:spPr>
      </p:sp>
      <p:sp>
        <p:nvSpPr>
          <p:cNvPr id="59" name="Text 57"/>
          <p:cNvSpPr/>
          <p:nvPr/>
        </p:nvSpPr>
        <p:spPr>
          <a:xfrm>
            <a:off x="6163056" y="5093208"/>
            <a:ext cx="2734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73AE"/>
                </a:solidFill>
              </a:rPr>
              <a:t>$292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6163056" y="545896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94"/>
                </a:solidFill>
              </a:rPr>
              <a:t>diagnostic test cost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061704" y="2743200"/>
            <a:ext cx="2734056" cy="2880360"/>
          </a:xfrm>
          <a:prstGeom prst="roundRect">
            <a:avLst>
              <a:gd name="adj" fmla="val 1003"/>
            </a:avLst>
          </a:prstGeom>
          <a:solidFill>
            <a:srgbClr val="F3F7FC"/>
          </a:solidFill>
          <a:ln w="12700">
            <a:solidFill>
              <a:srgbClr val="7FA6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16568" y="2651760"/>
            <a:ext cx="2624328" cy="329184"/>
          </a:xfrm>
          <a:prstGeom prst="roundRect">
            <a:avLst>
              <a:gd name="adj" fmla="val 8333"/>
            </a:avLst>
          </a:prstGeom>
          <a:solidFill>
            <a:srgbClr val="7FA6D0"/>
          </a:solidFill>
          <a:ln/>
        </p:spPr>
      </p:sp>
      <p:sp>
        <p:nvSpPr>
          <p:cNvPr id="63" name="Text 61"/>
          <p:cNvSpPr/>
          <p:nvPr/>
        </p:nvSpPr>
        <p:spPr>
          <a:xfrm>
            <a:off x="9116568" y="2651760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AI: PARSIMONIOUS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061704" y="301752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4478"/>
                </a:solidFill>
              </a:rPr>
              <a:t>parsimonious-but-safe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189720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4478"/>
                </a:solidFill>
              </a:rPr>
              <a:t>Acute bronchiolitis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189720" y="3767328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60"/>
                </a:solidFill>
              </a:rPr>
              <a:t>Diagnostic orders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189720" y="398678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Supportive care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Pertussis PCR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119104" y="398678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808094"/>
                </a:solidFill>
              </a:rPr>
              <a:t>shared</a:t>
            </a:r>
            <a:endParaRPr lang="en-US" sz="1000" dirty="0"/>
          </a:p>
          <a:p>
            <a:pPr algn="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A4478"/>
                </a:solidFill>
              </a:rPr>
              <a:t>$35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208008" y="4965192"/>
            <a:ext cx="2441448" cy="109728"/>
          </a:xfrm>
          <a:prstGeom prst="roundRect">
            <a:avLst>
              <a:gd name="adj" fmla="val 16667"/>
            </a:avLst>
          </a:prstGeom>
          <a:solidFill>
            <a:srgbClr val="E6E6EE"/>
          </a:solidFill>
          <a:ln/>
        </p:spPr>
      </p:sp>
      <p:sp>
        <p:nvSpPr>
          <p:cNvPr id="70" name="Shape 68"/>
          <p:cNvSpPr/>
          <p:nvPr/>
        </p:nvSpPr>
        <p:spPr>
          <a:xfrm>
            <a:off x="9208008" y="4965192"/>
            <a:ext cx="188814" cy="109728"/>
          </a:xfrm>
          <a:prstGeom prst="roundRect">
            <a:avLst>
              <a:gd name="adj" fmla="val 16667"/>
            </a:avLst>
          </a:prstGeom>
          <a:solidFill>
            <a:srgbClr val="7FA6D0"/>
          </a:solidFill>
          <a:ln/>
        </p:spPr>
      </p:sp>
      <p:sp>
        <p:nvSpPr>
          <p:cNvPr id="71" name="Text 69"/>
          <p:cNvSpPr/>
          <p:nvPr/>
        </p:nvSpPr>
        <p:spPr>
          <a:xfrm>
            <a:off x="9061704" y="5093208"/>
            <a:ext cx="2734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A6D0"/>
                </a:solidFill>
              </a:rPr>
              <a:t>$35</a:t>
            </a:r>
            <a:endParaRPr lang="en-US" sz="3000" dirty="0"/>
          </a:p>
        </p:txBody>
      </p:sp>
      <p:sp>
        <p:nvSpPr>
          <p:cNvPr id="72" name="Text 70"/>
          <p:cNvSpPr/>
          <p:nvPr/>
        </p:nvSpPr>
        <p:spPr>
          <a:xfrm>
            <a:off x="9061704" y="545896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94"/>
                </a:solidFill>
              </a:rPr>
              <a:t>diagnostic test cost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2026-06-05T23:23:57Z</dcterms:created>
  <dcterms:modified xsi:type="dcterms:W3CDTF">2026-06-05T23:23:57Z</dcterms:modified>
</cp:coreProperties>
</file>